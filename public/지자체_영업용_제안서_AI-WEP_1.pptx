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8197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07282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914400"/>
            <a:ext cx="3657600" cy="365760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지자체 소각시설 실증 제안서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65960"/>
            <a:ext cx="9144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AI-WEP</a:t>
            </a:r>
            <a:endParaRPr lang="en-US" sz="8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&amp; Environmental Plant AI Platform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79476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배출가스·소각운전·설비를 하나의 AI로 — 사후관리에서 사전예측·최적화로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5806440"/>
            <a:ext cx="1828800" cy="0"/>
          </a:xfrm>
          <a:prstGeom prst="line">
            <a:avLst/>
          </a:prstGeom>
          <a:noFill/>
          <a:ln w="25400">
            <a:solidFill>
              <a:srgbClr val="F2B13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943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[회사명 삽입 예정]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C74B9B2-E600-C142-9538-90D14496B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470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지자체 소각시설이 마주한 4가지 어려움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7F6"/>
          </a:solidFill>
          <a:ln/>
          <a:effectLst>
            <a:outerShdw blurRad="101600" dist="38100" dir="5400000" algn="bl" rotWithShape="0">
              <a:srgbClr val="6B8F8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1348" y="2487168"/>
            <a:ext cx="420624" cy="42062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73152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폐기물 성상의 가변성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114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생활양식 변화로 유입 폐기물 종류가 다양해져 연소·배출가스가 실시간으로 변동, 불완전 연소 위험이 상존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7F6"/>
          </a:solidFill>
          <a:ln/>
          <a:effectLst>
            <a:outerShdw blurRad="101600" dist="38100" dir="5400000" algn="bl" rotWithShape="0">
              <a:srgbClr val="6B8F8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2286000"/>
            <a:ext cx="822960" cy="82296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1708" y="2487168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1188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예측 불가능한 설비 고장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4114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이상을 사전에 인지하지 못해 비계획 정지가 발생하고 처리 일정에 차질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7F6"/>
          </a:solidFill>
          <a:ln/>
          <a:effectLst>
            <a:outerShdw blurRad="101600" dist="38100" dir="5400000" algn="bl" rotWithShape="0">
              <a:srgbClr val="6B8F87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2286000"/>
            <a:ext cx="822960" cy="82296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2068" y="2487168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49224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지속되는 운영비 부담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537960" y="4114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약품·전력 사용량이 경험적으로 관리되어 최적화 여지가 있음에도 방치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965960"/>
            <a:ext cx="2606040" cy="3566160"/>
          </a:xfrm>
          <a:prstGeom prst="roundRect">
            <a:avLst>
              <a:gd name="adj" fmla="val 3509"/>
            </a:avLst>
          </a:prstGeom>
          <a:solidFill>
            <a:srgbClr val="F3F7F6"/>
          </a:solidFill>
          <a:ln/>
          <a:effectLst>
            <a:outerShdw blurRad="101600" dist="38100" dir="5400000" algn="bl" rotWithShape="0">
              <a:srgbClr val="6B8F87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81260" y="2286000"/>
            <a:ext cx="822960" cy="82296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2428" y="248716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372600" y="333756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숙련 운전인력 의존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9418320" y="411480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베테랑 운전원의 경험적 판단에 의존한 수동 제어로, 체계적 데이터 분석·진단이 부족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정책 정합성 — 왜 지금 AI 소각장인가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정부의 AI 전환(AX) 정책과 공공기관 평가 체계가 AI 소각장 도입의 제도적 기반을 뒷받침합니다.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944368"/>
            <a:ext cx="731520" cy="731520"/>
          </a:xfrm>
          <a:prstGeom prst="ellipse">
            <a:avLst/>
          </a:prstGeom>
          <a:solidFill>
            <a:srgbClr val="F3F7F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127248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AI기본법 · AX 정책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기후에너지환경부 주도로 환경 서비스 전반에 AI를 접목하는 AX 정책 추진, 'AI 응용제품 신속 상용화 지원사업'으로 시설운영 효율화·환경사고 예방을 제도적으로 뒷받침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297680" y="26517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2944368"/>
            <a:ext cx="731520" cy="731520"/>
          </a:xfrm>
          <a:prstGeom prst="ellipse">
            <a:avLst/>
          </a:prstGeom>
          <a:solidFill>
            <a:srgbClr val="F3F7F6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2724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57200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공공기관 ESG·경영평가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온실가스 감축, 에너지 절약 등 환경(E) 지표는 공공기관 경영실적평가와 직접 연계. AI 기반 에너지 최적화는 평가 등급을 높이는 핵심 도구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46720" y="2651760"/>
            <a:ext cx="342900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</p:spPr>
      </p:sp>
      <p:sp>
        <p:nvSpPr>
          <p:cNvPr id="16" name="Shape 12"/>
          <p:cNvSpPr/>
          <p:nvPr/>
        </p:nvSpPr>
        <p:spPr>
          <a:xfrm>
            <a:off x="8321040" y="2944368"/>
            <a:ext cx="731520" cy="731520"/>
          </a:xfrm>
          <a:prstGeom prst="ellipse">
            <a:avLst/>
          </a:prstGeom>
          <a:solidFill>
            <a:srgbClr val="F3F7F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3920" y="3127248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321040" y="388620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순환경제사회 전환 촉진법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321040" y="452628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소각을 단순 '폐기물 처리'가 아닌 '에너지 회수·순환경제 촉진'의 관점으로 전환해야 하는 법적 의무에 직면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54864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정부 AI 정책자료 · 공공기관 경영평가 지침 · 순환경제사회 전환 촉진법 관련 연구자료 (상세 출처는 붙임 기획서 참조)</a:t>
            </a:r>
            <a:endParaRPr lang="en-US" sz="950" dirty="0"/>
          </a:p>
        </p:txBody>
      </p:sp>
      <p:sp>
        <p:nvSpPr>
          <p:cNvPr id="21" name="Text 1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AI-WEP — 환경·운전·설비를 통합하는 AI 플랫폼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AI-WEP은 소각시설의 운전·환경·설비 데이터를 실시간으로 통합 분석하여 배출가스와 운전상태를 사전 예측하고, 최적 운전조건을 운전원에게 제시하는 AI 플랫폼입니다.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918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사후관리 → 사전예측·최적화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79476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운영성과(사전탐지 시간, 절감률)로 증명하는 AI — 정확도(%) 수치가 아닌 현장 성과 중심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35040" y="1783080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3F7F6"/>
          </a:solidFill>
          <a:ln/>
        </p:spPr>
      </p:sp>
      <p:sp>
        <p:nvSpPr>
          <p:cNvPr id="8" name="Shape 6"/>
          <p:cNvSpPr/>
          <p:nvPr/>
        </p:nvSpPr>
        <p:spPr>
          <a:xfrm>
            <a:off x="6199632" y="192938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3A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75688"/>
            <a:ext cx="347472" cy="34747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99516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AI-ENV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99516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배출가스 예측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006840" y="1783080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3F7F6"/>
          </a:solidFill>
          <a:ln/>
        </p:spPr>
      </p:sp>
      <p:sp>
        <p:nvSpPr>
          <p:cNvPr id="13" name="Shape 10"/>
          <p:cNvSpPr/>
          <p:nvPr/>
        </p:nvSpPr>
        <p:spPr>
          <a:xfrm>
            <a:off x="9171432" y="1929384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3A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736" y="2075688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9966960" y="18745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AI-OP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9966960" y="224028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소각운전 최적화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916936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3F7F6"/>
          </a:solidFill>
          <a:ln/>
        </p:spPr>
      </p:sp>
      <p:sp>
        <p:nvSpPr>
          <p:cNvPr id="18" name="Shape 14"/>
          <p:cNvSpPr/>
          <p:nvPr/>
        </p:nvSpPr>
        <p:spPr>
          <a:xfrm>
            <a:off x="6199632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3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45936" y="320954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995160" y="30083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AI-PM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995160" y="3374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설비 이상예측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9006840" y="2916936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3F7F6"/>
          </a:solidFill>
          <a:ln/>
        </p:spPr>
      </p:sp>
      <p:sp>
        <p:nvSpPr>
          <p:cNvPr id="23" name="Shape 18"/>
          <p:cNvSpPr/>
          <p:nvPr/>
        </p:nvSpPr>
        <p:spPr>
          <a:xfrm>
            <a:off x="9171432" y="30632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3A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17736" y="320954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966960" y="300837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AI-Copilot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9966960" y="3374136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 AI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035040" y="4050792"/>
            <a:ext cx="2743200" cy="932688"/>
          </a:xfrm>
          <a:prstGeom prst="roundRect">
            <a:avLst>
              <a:gd name="adj" fmla="val 7843"/>
            </a:avLst>
          </a:prstGeom>
          <a:solidFill>
            <a:srgbClr val="F3F7F6"/>
          </a:solidFill>
          <a:ln/>
        </p:spPr>
      </p:sp>
      <p:sp>
        <p:nvSpPr>
          <p:cNvPr id="28" name="Shape 22"/>
          <p:cNvSpPr/>
          <p:nvPr/>
        </p:nvSpPr>
        <p:spPr>
          <a:xfrm>
            <a:off x="6199632" y="4197096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3D3A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936" y="4343400"/>
            <a:ext cx="347472" cy="347472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6995160" y="414223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Twin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6995160" y="4507992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가상운전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6035040" y="5276088"/>
            <a:ext cx="5715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혁신제품 최초 신청 시에는 대표제품(환경·운전 예측·최적화 시스템) 1개로 단순화하여 신청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기능 파이프라인 — 7단계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417320" y="3634740"/>
            <a:ext cx="830580" cy="0"/>
          </a:xfrm>
          <a:prstGeom prst="line">
            <a:avLst/>
          </a:prstGeom>
          <a:noFill/>
          <a:ln w="19050">
            <a:solidFill>
              <a:srgbClr val="1F7A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200400"/>
            <a:ext cx="868680" cy="86868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22860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데이터 수집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16580" y="3634740"/>
            <a:ext cx="830580" cy="0"/>
          </a:xfrm>
          <a:prstGeom prst="line">
            <a:avLst/>
          </a:prstGeom>
          <a:noFill/>
          <a:ln w="19050">
            <a:solidFill>
              <a:srgbClr val="1F7A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47900" y="3200400"/>
            <a:ext cx="868680" cy="86868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4790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92786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이상탐지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15840" y="3634740"/>
            <a:ext cx="830580" cy="0"/>
          </a:xfrm>
          <a:prstGeom prst="line">
            <a:avLst/>
          </a:prstGeom>
          <a:noFill/>
          <a:ln w="19050">
            <a:solidFill>
              <a:srgbClr val="1F7A6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947160" y="3200400"/>
            <a:ext cx="868680" cy="86868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94716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62712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배출가스 예측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15100" y="3634740"/>
            <a:ext cx="830580" cy="0"/>
          </a:xfrm>
          <a:prstGeom prst="line">
            <a:avLst/>
          </a:prstGeom>
          <a:noFill/>
          <a:ln w="19050">
            <a:solidFill>
              <a:srgbClr val="1F7A6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46420" y="3200400"/>
            <a:ext cx="868680" cy="86868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64642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532638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소각운전 예측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14360" y="3634740"/>
            <a:ext cx="830580" cy="0"/>
          </a:xfrm>
          <a:prstGeom prst="line">
            <a:avLst/>
          </a:prstGeom>
          <a:noFill/>
          <a:ln w="19050">
            <a:solidFill>
              <a:srgbClr val="1F7A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45680" y="3200400"/>
            <a:ext cx="868680" cy="86868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4568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702564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운전조건 최적화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913620" y="3634740"/>
            <a:ext cx="830580" cy="0"/>
          </a:xfrm>
          <a:prstGeom prst="line">
            <a:avLst/>
          </a:prstGeom>
          <a:noFill/>
          <a:ln w="19050">
            <a:solidFill>
              <a:srgbClr val="1F7A6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44940" y="3200400"/>
            <a:ext cx="868680" cy="868680"/>
          </a:xfrm>
          <a:prstGeom prst="ellipse">
            <a:avLst/>
          </a:prstGeom>
          <a:solidFill>
            <a:srgbClr val="1F7A6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04494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 txBox="1"/>
          <p:nvPr/>
        </p:nvSpPr>
        <p:spPr>
          <a:xfrm>
            <a:off x="872490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운전원 AI 추천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744200" y="3200400"/>
            <a:ext cx="868680" cy="868680"/>
          </a:xfrm>
          <a:prstGeom prst="ellipse">
            <a:avLst/>
          </a:prstGeom>
          <a:solidFill>
            <a:srgbClr val="F2B134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0744200" y="32004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728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28"/>
          <p:cNvSpPr txBox="1"/>
          <p:nvPr/>
        </p:nvSpPr>
        <p:spPr>
          <a:xfrm>
            <a:off x="10424160" y="4233672"/>
            <a:ext cx="1508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성과분석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18288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수집부터 성과분석까지 하나의 루프로 연결되어, 운전원의 의사결정을 매 순간 지원합니다.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혁신성 — 사후관리에서 사전예측·최적화로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EDEFE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기존 SCADA / 환경감시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현재 상태 모니터링 중심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발생 후 사후 대응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✗"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운영자 경험에 의존한 판단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806440" y="3566160"/>
            <a:ext cx="640080" cy="640080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1965960"/>
            <a:ext cx="5029200" cy="3840480"/>
          </a:xfrm>
          <a:prstGeom prst="roundRect">
            <a:avLst>
              <a:gd name="adj" fmla="val 2381"/>
            </a:avLst>
          </a:prstGeom>
          <a:solidFill>
            <a:srgbClr val="0B3D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903720" y="2240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AI-WEP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903720" y="26060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기반 사전예측·최적화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949440" y="333756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운전·환경·설비 데이터 통합 분석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949440" y="39319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미래상태 예측 → 이상징후 사전감지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0" y="45262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✓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기반 최적 운전조건 + 의사결정 지원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실증 KPI 및 기대효과 (시범사용 성공판정 기준)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9476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877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배출가스 예측 정확도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663440" y="19476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10분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5877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이상징후 사전탐지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0" y="178308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0" y="1947672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99%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503920" y="2587752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시스템 가동률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45643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362102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≤ 10%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261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오탐률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345643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663440" y="362102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80%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4261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운전원 만족도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0" y="345643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3F7F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503920" y="3621024"/>
            <a:ext cx="2971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D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5%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4261104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운영비 절감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5294376"/>
            <a:ext cx="10698480" cy="777240"/>
          </a:xfrm>
          <a:prstGeom prst="roundRect">
            <a:avLst>
              <a:gd name="adj" fmla="val 9412"/>
            </a:avLst>
          </a:prstGeom>
          <a:solidFill>
            <a:srgbClr val="0B3D3A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436108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5545836"/>
            <a:ext cx="274320" cy="27432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417320" y="538581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산업 현장 실증 사례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570585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최적 연소제어 적용 시 (SK에코플랜트 등)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4663440" y="5294376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 약 49.9% 감소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680960" y="5294376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NOx 약 12.2% 감소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6181344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위 목표 KPI는 실증 현장 데이터 및 기존 시스템 성능을 기준으로 재설정 · 산업 현장 실증치는 붙임 기획서 출처 참조</a:t>
            </a:r>
            <a:endParaRPr lang="en-US" sz="950" dirty="0"/>
          </a:p>
        </p:txBody>
      </p:sp>
      <p:sp>
        <p:nvSpPr>
          <p:cNvPr id="30" name="Text 2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실증협약 구조 — 단순 납품이 아닌 공동 실증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0B3D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76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창업기업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기술 · 데이터 분석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321040" y="2011680"/>
            <a:ext cx="3291840" cy="1188720"/>
          </a:xfrm>
          <a:prstGeom prst="roundRect">
            <a:avLst>
              <a:gd name="adj" fmla="val 6154"/>
            </a:avLst>
          </a:prstGeom>
          <a:solidFill>
            <a:srgbClr val="1F7A6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321040" y="2176272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소각장 운영기관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321040" y="2606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5F1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운전데이터 · 현장검증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977640" y="2404872"/>
            <a:ext cx="685800" cy="402336"/>
          </a:xfrm>
          <a:prstGeom prst="rightArrow">
            <a:avLst/>
          </a:prstGeom>
          <a:solidFill>
            <a:srgbClr val="F2B134"/>
          </a:solidFill>
          <a:ln/>
        </p:spPr>
      </p:sp>
      <p:sp>
        <p:nvSpPr>
          <p:cNvPr id="11" name="Shape 9"/>
          <p:cNvSpPr/>
          <p:nvPr/>
        </p:nvSpPr>
        <p:spPr>
          <a:xfrm>
            <a:off x="7452360" y="2404872"/>
            <a:ext cx="685800" cy="402336"/>
          </a:xfrm>
          <a:prstGeom prst="leftArrow">
            <a:avLst/>
          </a:prstGeom>
          <a:solidFill>
            <a:srgbClr val="F2B134"/>
          </a:solidFill>
          <a:ln/>
        </p:spPr>
      </p:sp>
      <p:sp>
        <p:nvSpPr>
          <p:cNvPr id="12" name="Shape 10"/>
          <p:cNvSpPr/>
          <p:nvPr/>
        </p:nvSpPr>
        <p:spPr>
          <a:xfrm>
            <a:off x="4480560" y="3657600"/>
            <a:ext cx="3200400" cy="1600200"/>
          </a:xfrm>
          <a:prstGeom prst="roundRect">
            <a:avLst>
              <a:gd name="adj" fmla="val 4571"/>
            </a:avLst>
          </a:prstGeom>
          <a:solidFill>
            <a:srgbClr val="F3F7F6"/>
          </a:solidFill>
          <a:ln w="19050">
            <a:solidFill>
              <a:srgbClr val="F2B13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3803904"/>
            <a:ext cx="548640" cy="548640"/>
          </a:xfrm>
          <a:prstGeom prst="ellipse">
            <a:avLst/>
          </a:prstGeom>
          <a:solidFill>
            <a:srgbClr val="0B3D3A"/>
          </a:solidFill>
          <a:ln/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3931920"/>
            <a:ext cx="292608" cy="29260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4480560" y="442569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공동 실증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617720" y="477316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성능검증 · 운영효과 검증 · 개선사항 도출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계약서에 명확히 해야 할 권리 관계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5760720"/>
            <a:ext cx="1156716" cy="384048"/>
          </a:xfrm>
          <a:prstGeom prst="roundRect">
            <a:avLst>
              <a:gd name="adj" fmla="val 50000"/>
            </a:avLst>
          </a:prstGeom>
          <a:solidFill>
            <a:srgbClr val="E6EEEC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48640" y="5760720"/>
            <a:ext cx="11567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사용권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869948" y="5760720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E6EEEC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869948" y="5760720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모델 학습권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438144" y="5760720"/>
            <a:ext cx="1280160" cy="384048"/>
          </a:xfrm>
          <a:prstGeom prst="roundRect">
            <a:avLst>
              <a:gd name="adj" fmla="val 50000"/>
            </a:avLst>
          </a:prstGeom>
          <a:solidFill>
            <a:srgbClr val="E6EEEC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3438144" y="576072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실증결과 사용권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4882896" y="5760720"/>
            <a:ext cx="1403604" cy="384048"/>
          </a:xfrm>
          <a:prstGeom prst="roundRect">
            <a:avLst>
              <a:gd name="adj" fmla="val 50000"/>
            </a:avLst>
          </a:prstGeom>
          <a:solidFill>
            <a:srgbClr val="E6EEEC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882896" y="5760720"/>
            <a:ext cx="14036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성과자료 공개범위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451092" y="5760720"/>
            <a:ext cx="662940" cy="384048"/>
          </a:xfrm>
          <a:prstGeom prst="roundRect">
            <a:avLst>
              <a:gd name="adj" fmla="val 50000"/>
            </a:avLst>
          </a:prstGeom>
          <a:solidFill>
            <a:srgbClr val="E6EEEC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451092" y="5760720"/>
            <a:ext cx="6629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특허권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7278624" y="5760720"/>
            <a:ext cx="1773936" cy="384048"/>
          </a:xfrm>
          <a:prstGeom prst="roundRect">
            <a:avLst>
              <a:gd name="adj" fmla="val 50000"/>
            </a:avLst>
          </a:prstGeom>
          <a:solidFill>
            <a:srgbClr val="E6EEEC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7278624" y="576072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B3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공동개발 결과물의 권리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PATH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정부 조달 로드맵 연계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560320" y="2971800"/>
            <a:ext cx="228600" cy="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2026~27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혁신제품 지정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11480" y="3886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공공성·혁신성 평가 → 조달적합성 검토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2971800"/>
            <a:ext cx="228600" cy="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743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74320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혁신장터 등록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06040" y="3886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수요기관 자체예산 구매 가능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949440" y="2971800"/>
            <a:ext cx="228600" cy="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2743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93776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2027~28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조달청 시범구매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800600" y="3886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공공기관 현장 사용·검증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44000" y="2971800"/>
            <a:ext cx="228600" cy="0"/>
          </a:xfrm>
          <a:prstGeom prst="line">
            <a:avLst/>
          </a:prstGeom>
          <a:noFill/>
          <a:ln w="19050">
            <a:solidFill>
              <a:srgbClr val="F2B13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0" y="2743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F2B13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13232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728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성공판정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3886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완료보고서 기반 성공 여부 확정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326880" y="2743200"/>
            <a:ext cx="2057400" cy="457200"/>
          </a:xfrm>
          <a:prstGeom prst="roundRect">
            <a:avLst>
              <a:gd name="adj" fmla="val 50000"/>
            </a:avLst>
          </a:prstGeom>
          <a:solidFill>
            <a:srgbClr val="1F7A6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326880" y="274320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2028~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235440" y="34290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우수조달 확산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189720" y="388620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B9D6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우수조달물품 특례 → 전국 확산</a:t>
            </a:r>
            <a:endParaRPr lang="en-US" sz="9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1828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혁신제품 지정은 최종 목표가 아니라 공공시장 진입을 위한 첫 번째 레버리지입니다.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조달청 AI 제품 평가트랙 신설 · 혁신제품 시범구매 예산 839억원 규모로 확대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PLAN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2B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단계별 실행 계획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148840"/>
            <a:ext cx="731520" cy="73152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783080" y="2139696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0~6개월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703320" y="2139696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제품정의 · 소각장 확보 · 데이터 플랫폼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8641080" y="2139696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조달품목 검토 · 실증협약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18211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6"/>
          </a:solidFill>
          <a:ln/>
        </p:spPr>
      </p:sp>
      <p:sp>
        <p:nvSpPr>
          <p:cNvPr id="11" name="Shape 9"/>
          <p:cNvSpPr/>
          <p:nvPr/>
        </p:nvSpPr>
        <p:spPr>
          <a:xfrm>
            <a:off x="777240" y="3319272"/>
            <a:ext cx="731520" cy="73152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31927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 txBox="1"/>
          <p:nvPr/>
        </p:nvSpPr>
        <p:spPr>
          <a:xfrm>
            <a:off x="1783080" y="3310128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7~15개월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703320" y="3310128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예측·진단·운전추천 개발 · 제품화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641080" y="3310128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특허 출원 · 실증성과 확보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6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89704"/>
            <a:ext cx="731520" cy="73152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48970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448056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16~21개월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703320" y="4480560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실증 · 혁신제품 신청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41080" y="4480560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혁신제품 지정 · 혁신장터 등록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552297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3F7F6"/>
          </a:solidFill>
          <a:ln/>
        </p:spPr>
      </p:sp>
      <p:sp>
        <p:nvSpPr>
          <p:cNvPr id="23" name="Shape 21"/>
          <p:cNvSpPr/>
          <p:nvPr/>
        </p:nvSpPr>
        <p:spPr>
          <a:xfrm>
            <a:off x="777240" y="5660136"/>
            <a:ext cx="731520" cy="731520"/>
          </a:xfrm>
          <a:prstGeom prst="ellipse">
            <a:avLst/>
          </a:prstGeom>
          <a:solidFill>
            <a:srgbClr val="0B3D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660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1783080" y="5650992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6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22~30개월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3703320" y="5650992"/>
            <a:ext cx="4846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2B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조달청 시범구매 · 공공기관 실증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5650992"/>
            <a:ext cx="26517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성공판정 · 확산·우수조달 검토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11002975" y="64465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7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D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200400"/>
            <a:ext cx="5486400" cy="5486400"/>
          </a:xfrm>
          <a:prstGeom prst="ellipse">
            <a:avLst/>
          </a:prstGeom>
          <a:solidFill>
            <a:srgbClr val="0728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9202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 실증을 시작하겠습니다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27432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귀 시설의 배출가스 이상을 사전에 예측하고, 운전원의 대응을 지원하는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실증사업을 제안드립니다.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4114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4242816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[담당자 이메일 삽입]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22960" y="48463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4974336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554480" y="49560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[담당자 연락처 삽입]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6217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C2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[회사명 삽입 예정]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770</Words>
  <Application>Microsoft Office PowerPoint</Application>
  <PresentationFormat>와이드스크린</PresentationFormat>
  <Paragraphs>168</Paragraphs>
  <Slides>12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kampai</cp:lastModifiedBy>
  <cp:revision>3</cp:revision>
  <dcterms:created xsi:type="dcterms:W3CDTF">2026-08-27T08:22:02Z</dcterms:created>
  <dcterms:modified xsi:type="dcterms:W3CDTF">2026-08-27T11:45:15Z</dcterms:modified>
</cp:coreProperties>
</file>